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6B6F8A"/>
                </a:solidFill>
              </a:rPr>
              <a:t>EmployWise · APM Product Case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WFH Request System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7B7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actually moves the needle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1097280" cy="36576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697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9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teams build a request portal.  We built a team performance system.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2011680" cy="777240"/>
          </a:xfrm>
          <a:prstGeom prst="rect">
            <a:avLst/>
          </a:prstGeom>
          <a:solidFill>
            <a:srgbClr val="1E2340"/>
          </a:solidFill>
          <a:ln w="12700">
            <a:solidFill>
              <a:srgbClr val="2E33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37307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065A0"/>
                </a:solidFill>
              </a:rPr>
              <a:t>PRODUCT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58368" y="3931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EmployWise HRMS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97480" y="3657600"/>
            <a:ext cx="2011680" cy="777240"/>
          </a:xfrm>
          <a:prstGeom prst="rect">
            <a:avLst/>
          </a:prstGeom>
          <a:solidFill>
            <a:srgbClr val="1E2340"/>
          </a:solidFill>
          <a:ln w="12700">
            <a:solidFill>
              <a:srgbClr val="2E33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07208" y="37307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065A0"/>
                </a:solidFill>
              </a:rPr>
              <a:t>DOMAIN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807208" y="3931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HR SaaS · Hire-to-retire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3657600"/>
            <a:ext cx="2011680" cy="777240"/>
          </a:xfrm>
          <a:prstGeom prst="rect">
            <a:avLst/>
          </a:prstGeom>
          <a:solidFill>
            <a:srgbClr val="1E2340"/>
          </a:solidFill>
          <a:ln w="12700">
            <a:solidFill>
              <a:srgbClr val="2E33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6048" y="37307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065A0"/>
                </a:solidFill>
              </a:rPr>
              <a:t>STAGE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956048" y="3931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Discovery → Delivery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95160" y="3657600"/>
            <a:ext cx="2011680" cy="777240"/>
          </a:xfrm>
          <a:prstGeom prst="rect">
            <a:avLst/>
          </a:prstGeom>
          <a:solidFill>
            <a:srgbClr val="1E2340"/>
          </a:solidFill>
          <a:ln w="12700">
            <a:solidFill>
              <a:srgbClr val="2E33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04888" y="37307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065A0"/>
                </a:solidFill>
              </a:rPr>
              <a:t>AUDIENCE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7104888" y="3931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Leadership · PMs · Eng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A3E60"/>
                </a:solidFill>
              </a:rPr>
              <a:t>01 / 08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F5E5A"/>
                </a:solidFill>
              </a:rPr>
              <a:t>PROBLEM FRAMING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problem isn't the request.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invisible erosion of team delivery when flexibility has no system around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840480" cy="1280160"/>
          </a:xfrm>
          <a:prstGeom prst="rect">
            <a:avLst/>
          </a:prstGeom>
          <a:solidFill>
            <a:srgbClr val="FCEBEB"/>
          </a:solidFill>
          <a:ln w="12700">
            <a:solidFill>
              <a:srgbClr val="F7C1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54864" cy="128016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819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A32D2D"/>
                </a:solidFill>
              </a:rPr>
              <a:t>WRONG FRAME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0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employees submit WFH requests?"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21031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2D2D"/>
                </a:solidFill>
              </a:rPr>
              <a:t>Leads to a portal. Approval widget. Done.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32D2D"/>
                </a:solidFill>
              </a:rPr>
              <a:t>Productivity impact? Unknown.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3840480" cy="1280160"/>
          </a:xfrm>
          <a:prstGeom prst="rect">
            <a:avLst/>
          </a:prstGeom>
          <a:solidFill>
            <a:srgbClr val="E1F5EE"/>
          </a:solidFill>
          <a:ln w="12700">
            <a:solidFill>
              <a:srgbClr val="9FE1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926080"/>
            <a:ext cx="54864" cy="128016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9992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F6E56"/>
                </a:solidFill>
              </a:rPr>
              <a:t>RIGHT FRAME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94360" y="3200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does flexibility stay compatible with delivery?"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4360" y="35204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6E56"/>
                </a:solidFill>
              </a:rPr>
              <a:t>Leads to team visibility, outcome tracking,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6E56"/>
                </a:solidFill>
              </a:rPr>
              <a:t>and coordination intelligence.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508760"/>
            <a:ext cx="4206240" cy="804672"/>
          </a:xfrm>
          <a:prstGeom prst="rect">
            <a:avLst/>
          </a:prstGeom>
          <a:solidFill>
            <a:srgbClr val="FCEBEB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508760"/>
            <a:ext cx="54864" cy="80467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6002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117"/>
                </a:solidFill>
              </a:rPr>
              <a:t>Invisible productivity loss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183794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</a:rPr>
              <a:t>WFH accumulates with no signal until sprint velocity drops — 3 weeks of damage before any alert.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2423160"/>
            <a:ext cx="4206240" cy="804672"/>
          </a:xfrm>
          <a:prstGeom prst="rect">
            <a:avLst/>
          </a:prstGeom>
          <a:solidFill>
            <a:srgbClr val="FCEBEB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423160"/>
            <a:ext cx="54864" cy="80467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514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117"/>
                </a:solidFill>
              </a:rPr>
              <a:t>Coordination failures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275234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</a:rPr>
              <a:t>3 cross-functional members remote on same day = missed SLAs that cost 2× to fix later.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3337560"/>
            <a:ext cx="4206240" cy="804672"/>
          </a:xfrm>
          <a:prstGeom prst="rect">
            <a:avLst/>
          </a:prstGeom>
          <a:solidFill>
            <a:srgbClr val="FAEEDA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3337560"/>
            <a:ext cx="54864" cy="804672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34290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117"/>
                </a:solidFill>
              </a:rPr>
              <a:t>Policy arbitrage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366674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</a:rPr>
              <a:t>Permissive vs. strict managers creates inequity. Employees notice. Resentment scales quietly.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4B2A9"/>
                </a:solidFill>
              </a:rPr>
              <a:t>02 / 08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F5E5A"/>
                </a:solidFill>
              </a:rPr>
              <a:t>WHERE OTHERS GO WRONG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failure modes. One root cause.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5E5A"/>
                </a:solidFill>
              </a:rPr>
              <a:t>Every mistake traces back to optimising the wrong thing.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54864" cy="150876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591056"/>
            <a:ext cx="347472" cy="237744"/>
          </a:xfrm>
          <a:prstGeom prst="rect">
            <a:avLst>
              <a:gd name="adj" fmla="val 19231"/>
            </a:avLst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91056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32D2D"/>
                </a:solidFill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" y="16002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B4B2A9"/>
                </a:solidFill>
              </a:rPr>
              <a:t>VS. TEAM OUTPUT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94360" y="18470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117"/>
                </a:solidFill>
              </a:rPr>
              <a:t>Employee convenience as the goal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139696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</a:rPr>
              <a:t>Smooth request UX sitting on top of a broken coordination layer. Individual problem solved. Team problem ignored completely.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154680"/>
            <a:ext cx="54864" cy="150876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3282696"/>
            <a:ext cx="347472" cy="237744"/>
          </a:xfrm>
          <a:prstGeom prst="rect">
            <a:avLst>
              <a:gd name="adj" fmla="val 19231"/>
            </a:avLst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282696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32D2D"/>
                </a:solidFill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05840" y="32918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B4B2A9"/>
                </a:solidFill>
              </a:rPr>
              <a:t>VS. SOFT SIGNALS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94360" y="353872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117"/>
                </a:solidFill>
              </a:rPr>
              <a:t>Over-engineering enforcement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3831336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</a:rPr>
              <a:t>Hard blocks and HR approval chains breed workarounds. The system becomes adversarial. Trust evaporates at scale.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1463040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1463040"/>
            <a:ext cx="54864" cy="150876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37760" y="1591056"/>
            <a:ext cx="347472" cy="237744"/>
          </a:xfrm>
          <a:prstGeom prst="rect">
            <a:avLst>
              <a:gd name="adj" fmla="val 19231"/>
            </a:avLst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591056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32D2D"/>
                </a:solidFill>
              </a:rPr>
              <a:t>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49240" y="16002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B4B2A9"/>
                </a:solidFill>
              </a:rPr>
              <a:t>VS. DELIVERY IMPACT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937760" y="184708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117"/>
                </a:solidFill>
              </a:rPr>
              <a:t>Tracking requests, not outcomes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2139696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</a:rPr>
              <a:t>98% approval rate + declining sprint velocity = invisible failure. Activity metrics are not value metrics. Ever.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00600" y="3154680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3154680"/>
            <a:ext cx="54864" cy="150876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37760" y="3282696"/>
            <a:ext cx="347472" cy="237744"/>
          </a:xfrm>
          <a:prstGeom prst="rect">
            <a:avLst>
              <a:gd name="adj" fmla="val 19231"/>
            </a:avLst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3282696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32D2D"/>
                </a:solidFill>
              </a:rPr>
              <a:t>04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349240" y="32918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100" kern="0" dirty="0">
                <a:solidFill>
                  <a:srgbClr val="B4B2A9"/>
                </a:solidFill>
              </a:rPr>
              <a:t>VS. DATA-FIRST BUILD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937760" y="353872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117"/>
                </a:solidFill>
              </a:rPr>
              <a:t>No pre-launch baseline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37760" y="3831336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</a:rPr>
              <a:t>Can't prove value, can't diagnose failure, can't improve — because there's nothing to compare against. SQL runs before Figma opens.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4B2A9"/>
                </a:solidFill>
              </a:rPr>
              <a:t>03 / 08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F8A"/>
                </a:solidFill>
              </a:rPr>
              <a:t>DECISION-MAKING APPROACH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experimentation,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gut feel.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5B8"/>
                </a:solidFill>
              </a:rPr>
              <a:t>Every major design decision is a testable hypothesis with a clear success criterion.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8321040" cy="777240"/>
          </a:xfrm>
          <a:prstGeom prst="rect">
            <a:avLst/>
          </a:prstGeom>
          <a:solidFill>
            <a:srgbClr val="1E2340"/>
          </a:solidFill>
          <a:ln w="12700">
            <a:solidFill>
              <a:srgbClr val="2E33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11680"/>
            <a:ext cx="54864" cy="7772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121408"/>
            <a:ext cx="347472" cy="237744"/>
          </a:xfrm>
          <a:prstGeom prst="rect">
            <a:avLst/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21408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34AB7"/>
                </a:solidFill>
              </a:rPr>
              <a:t>H1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5568" y="21031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Context changes approval behaviour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92240" y="2093976"/>
            <a:ext cx="1325880" cy="219456"/>
          </a:xfrm>
          <a:prstGeom prst="rect">
            <a:avLst/>
          </a:prstGeom>
          <a:solidFill>
            <a:srgbClr val="2E3360"/>
          </a:solidFill>
          <a:ln w="12700">
            <a:solidFill>
              <a:srgbClr val="3E44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093976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95D8"/>
                </a:solidFill>
              </a:rPr>
              <a:t>Amplitude A/B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15568" y="23774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95B8"/>
                </a:solidFill>
              </a:rPr>
              <a:t>Show context panel (team calendar + sprint load) to 50% of managers. Measure: does approval decision quality improve? Proxy: post-approval delivery impact rate.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907792"/>
            <a:ext cx="8321040" cy="777240"/>
          </a:xfrm>
          <a:prstGeom prst="rect">
            <a:avLst/>
          </a:prstGeom>
          <a:solidFill>
            <a:srgbClr val="1E2340"/>
          </a:solidFill>
          <a:ln w="12700">
            <a:solidFill>
              <a:srgbClr val="2E33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07792"/>
            <a:ext cx="54864" cy="7772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017520"/>
            <a:ext cx="347472" cy="237744"/>
          </a:xfrm>
          <a:prstGeom prst="rect">
            <a:avLst/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017520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34AB7"/>
                </a:solidFill>
              </a:rPr>
              <a:t>H2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5568" y="299923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Nudges reduce coordination gaps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2990088"/>
            <a:ext cx="1325880" cy="219456"/>
          </a:xfrm>
          <a:prstGeom prst="rect">
            <a:avLst/>
          </a:prstGeom>
          <a:solidFill>
            <a:srgbClr val="2E3360"/>
          </a:solidFill>
          <a:ln w="12700">
            <a:solidFill>
              <a:srgbClr val="3E44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99008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95D8"/>
                </a:solidFill>
              </a:rPr>
              <a:t>Mixpanel funnel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115568" y="327355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95B8"/>
                </a:solidFill>
              </a:rPr>
              <a:t>Show collaboration risk warning on high-concentration days. Target: 15% reduction in same-day full-team WFH events within 6 weeks.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803904"/>
            <a:ext cx="8321040" cy="777240"/>
          </a:xfrm>
          <a:prstGeom prst="rect">
            <a:avLst/>
          </a:prstGeom>
          <a:solidFill>
            <a:srgbClr val="1E2340"/>
          </a:solidFill>
          <a:ln w="12700">
            <a:solidFill>
              <a:srgbClr val="2E33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803904"/>
            <a:ext cx="54864" cy="77724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3913632"/>
            <a:ext cx="347472" cy="237744"/>
          </a:xfrm>
          <a:prstGeom prst="rect">
            <a:avLst/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913632"/>
            <a:ext cx="347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34AB7"/>
                </a:solidFill>
              </a:rPr>
              <a:t>H3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5568" y="389534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Output tracking improves equity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92240" y="3886200"/>
            <a:ext cx="1325880" cy="219456"/>
          </a:xfrm>
          <a:prstGeom prst="rect">
            <a:avLst/>
          </a:prstGeom>
          <a:solidFill>
            <a:srgbClr val="2E3360"/>
          </a:solidFill>
          <a:ln w="12700">
            <a:solidFill>
              <a:srgbClr val="3E44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388620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95D8"/>
                </a:solidFill>
              </a:rPr>
              <a:t>SQL cohort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15568" y="4169664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95B8"/>
                </a:solidFill>
              </a:rPr>
              <a:t>Teams with outcome-linked WFH data show lower variance in per-person allocation. Baseline week 0, measured at weeks 6 and 12.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4617720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F8A"/>
                </a:solidFill>
              </a:rPr>
              <a:t>"Each feature ships with a hypothesis, a measurement plan, and a kill criterion."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A3E60"/>
                </a:solidFill>
              </a:rPr>
              <a:t>04 / 08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F5E5A"/>
                </a:solidFill>
              </a:rPr>
              <a:t>TOOL-DRIVEN EXECUTION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mapped to decisions, not deliverables.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5E5A"/>
                </a:solidFill>
              </a:rPr>
              <a:t>BPM charts · Entity diagrams · UML · UX collaboration · Research documentation — all integrated per JD requirements.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353312"/>
            <a:ext cx="8412480" cy="292608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5331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/ Artifact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697480" y="13533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Tool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06240" y="135331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How used in this feature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8412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459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117"/>
                </a:solidFill>
              </a:rPr>
              <a:t>User journey map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697480" y="16459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5FA5"/>
                </a:solidFill>
              </a:rPr>
              <a:t>Miro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206240" y="16459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</a:rPr>
              <a:t>Employee, manager, HR flows; decision nodes and handoff gaps in approval lifecycle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993392"/>
            <a:ext cx="8412480" cy="329184"/>
          </a:xfrm>
          <a:prstGeom prst="rect">
            <a:avLst/>
          </a:prstGeom>
          <a:solidFill>
            <a:srgbClr val="F8F8FA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99339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117"/>
                </a:solidFill>
              </a:rPr>
              <a:t>BPM / process chart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697480" y="199339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5FA5"/>
                </a:solidFill>
              </a:rPr>
              <a:t>Miro / Lucidchart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06240" y="199339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</a:rPr>
              <a:t>BPMN swimlane: Employee → System → Manager → HR — per JD requirement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340864"/>
            <a:ext cx="8412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34086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117"/>
                </a:solidFill>
              </a:rPr>
              <a:t>Data entity diagram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697480" y="234086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5FA5"/>
                </a:solidFill>
              </a:rPr>
              <a:t>draw.io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06240" y="234086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</a:rPr>
              <a:t>ER: Employee → WFH_Request → Team_Calendar → Approval → Outcome_Log with cardinality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688336"/>
            <a:ext cx="8412480" cy="329184"/>
          </a:xfrm>
          <a:prstGeom prst="rect">
            <a:avLst/>
          </a:prstGeom>
          <a:solidFill>
            <a:srgbClr val="F8F8FA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68833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117"/>
                </a:solidFill>
              </a:rPr>
              <a:t>UX / UI design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697480" y="268833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5FA5"/>
                </a:solidFill>
              </a:rPr>
              <a:t>Figma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206240" y="268833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</a:rPr>
              <a:t>Approval panel, team calendar, mobile flow; engineering handoff with redlines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035808"/>
            <a:ext cx="8412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03580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117"/>
                </a:solidFill>
              </a:rPr>
              <a:t>Pre-launch analysis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697480" y="303580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5FA5"/>
                </a:solidFill>
              </a:rPr>
              <a:t>SQL / Excel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206240" y="3035808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</a:rPr>
              <a:t>Baseline WFH frequency, approval rates, leave patterns — before design begins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383280"/>
            <a:ext cx="8412480" cy="329184"/>
          </a:xfrm>
          <a:prstGeom prst="rect">
            <a:avLst/>
          </a:prstGeom>
          <a:solidFill>
            <a:srgbClr val="F8F8FA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38328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117"/>
                </a:solidFill>
              </a:rPr>
              <a:t>Exec dashboard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697480" y="33832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5FA5"/>
                </a:solidFill>
              </a:rPr>
              <a:t>Power BI / Tableau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206240" y="33832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</a:rPr>
              <a:t>Team Delivery Stability Index: sprint velocity overlaid with WFH rate per team/week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3730752"/>
            <a:ext cx="8412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73075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117"/>
                </a:solidFill>
              </a:rPr>
              <a:t>Experimentation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697480" y="373075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5FA5"/>
                </a:solidFill>
              </a:rPr>
              <a:t>Amplitude / Mixpanel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206240" y="373075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</a:rPr>
              <a:t>Context panel A/B, nudge funnel, approval quality cohort — three live post-launch tests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4078224"/>
            <a:ext cx="8412480" cy="329184"/>
          </a:xfrm>
          <a:prstGeom prst="rect">
            <a:avLst/>
          </a:prstGeom>
          <a:solidFill>
            <a:srgbClr val="F8F8FA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07822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117"/>
                </a:solidFill>
              </a:rPr>
              <a:t>Documentation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697480" y="407822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5FA5"/>
                </a:solidFill>
              </a:rPr>
              <a:t>Notion / Confluence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206240" y="407822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</a:rPr>
              <a:t>Living PRD, edge case log, decision log with trade-off rationale, post-launch retro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4425696"/>
            <a:ext cx="8412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442569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117"/>
                </a:solidFill>
              </a:rPr>
              <a:t>Sprint execution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697480" y="442569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85FA5"/>
                </a:solidFill>
              </a:rPr>
              <a:t>Jira + Slack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206240" y="442569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</a:rPr>
              <a:t>Epics per phase; weekly #wfh-launch Slack updates; PLM tracking end-to-end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4B2A9"/>
                </a:solidFill>
              </a:rPr>
              <a:t>05 / 08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F5E5A"/>
                </a:solidFill>
              </a:rPr>
              <a:t>MIRO PRODUCT ROADMAP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phases. One direction.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</a:rPr>
              <a:t>Sequenced by risk reduction — not feature count. Each phase ships a testable value unit.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8412480" cy="54864"/>
          </a:xfrm>
          <a:prstGeom prst="rect">
            <a:avLst/>
          </a:prstGeom>
          <a:solidFill>
            <a:srgbClr val="E8E6E0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2103120"/>
            <a:ext cx="137160" cy="137160"/>
          </a:xfrm>
          <a:prstGeom prst="ellipse">
            <a:avLst/>
          </a:prstGeom>
          <a:solidFill>
            <a:srgbClr val="B4B2A9"/>
          </a:solidFill>
          <a:ln w="12700">
            <a:solidFill>
              <a:srgbClr val="B4B2A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69080" y="2103120"/>
            <a:ext cx="137160" cy="137160"/>
          </a:xfrm>
          <a:prstGeom prst="ellipse">
            <a:avLst/>
          </a:prstGeom>
          <a:solidFill>
            <a:srgbClr val="B4B2A9"/>
          </a:solidFill>
          <a:ln w="12700">
            <a:solidFill>
              <a:srgbClr val="B4B2A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2103120"/>
            <a:ext cx="137160" cy="137160"/>
          </a:xfrm>
          <a:prstGeom prst="ellipse">
            <a:avLst/>
          </a:prstGeom>
          <a:solidFill>
            <a:srgbClr val="B4B2A9"/>
          </a:solidFill>
          <a:ln w="12700">
            <a:solidFill>
              <a:srgbClr val="B4B2A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53312" y="2084832"/>
            <a:ext cx="219456" cy="219456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423160"/>
            <a:ext cx="2011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423160"/>
            <a:ext cx="2011680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871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34AB7"/>
                </a:solidFill>
              </a:rPr>
              <a:t>WK 1–4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66928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3017520"/>
            <a:ext cx="1783080" cy="9144"/>
          </a:xfrm>
          <a:prstGeom prst="rect">
            <a:avLst/>
          </a:prstGeom>
          <a:solidFill>
            <a:srgbClr val="E8E6E0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3127248"/>
            <a:ext cx="73152" cy="7315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" y="3090672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</a:rPr>
              <a:t>Policy engine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3383280"/>
            <a:ext cx="73152" cy="7315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" y="3346704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</a:rPr>
              <a:t>Eligibility rules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3639312"/>
            <a:ext cx="73152" cy="7315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602736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</a:rPr>
              <a:t>Monthly caps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" y="3895344"/>
            <a:ext cx="73152" cy="73152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" y="3858768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</a:rPr>
              <a:t>Request flow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66928" y="4178808"/>
            <a:ext cx="749808" cy="201168"/>
          </a:xfrm>
          <a:prstGeom prst="rect">
            <a:avLst/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81328" y="4178808"/>
            <a:ext cx="749808" cy="201168"/>
          </a:xfrm>
          <a:prstGeom prst="rect">
            <a:avLst/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95728" y="4178808"/>
            <a:ext cx="749808" cy="201168"/>
          </a:xfrm>
          <a:prstGeom prst="rect">
            <a:avLst/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169664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34AB7"/>
                </a:solidFill>
              </a:rPr>
              <a:t>SQL baseline · Miro BPM · draw.io ERD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502152" y="2084832"/>
            <a:ext cx="219456" cy="219456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06040" y="2423160"/>
            <a:ext cx="2011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06040" y="2423160"/>
            <a:ext cx="2011680" cy="5486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15768" y="24871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F6E56"/>
                </a:solidFill>
              </a:rPr>
              <a:t>WK 5–8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15768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715768" y="3017520"/>
            <a:ext cx="1783080" cy="9144"/>
          </a:xfrm>
          <a:prstGeom prst="rect">
            <a:avLst/>
          </a:prstGeom>
          <a:solidFill>
            <a:srgbClr val="E8E6E0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15768" y="3127248"/>
            <a:ext cx="73152" cy="73152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43784" y="3090672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</a:rPr>
              <a:t>Team calendar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15768" y="3383280"/>
            <a:ext cx="73152" cy="73152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43784" y="3346704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</a:rPr>
              <a:t>Manager context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15768" y="3639312"/>
            <a:ext cx="73152" cy="73152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43784" y="3602736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</a:rPr>
              <a:t>Coverage alerts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15768" y="3895344"/>
            <a:ext cx="73152" cy="73152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43784" y="3858768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</a:rPr>
              <a:t>Approval panel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715768" y="4178808"/>
            <a:ext cx="1737360" cy="20116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30168" y="4178808"/>
            <a:ext cx="1737360" cy="20116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97480" y="4169664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6E56"/>
                </a:solidFill>
              </a:rPr>
              <a:t>Figma · Amplitude A/B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650992" y="2084832"/>
            <a:ext cx="219456" cy="219456"/>
          </a:xfrm>
          <a:prstGeom prst="ellipse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4880" y="2423160"/>
            <a:ext cx="2011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54880" y="2423160"/>
            <a:ext cx="2011680" cy="54864"/>
          </a:xfrm>
          <a:prstGeom prst="rect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64608" y="24871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54F0B"/>
                </a:solidFill>
              </a:rPr>
              <a:t>WK 9–12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864608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4864608" y="3017520"/>
            <a:ext cx="1783080" cy="9144"/>
          </a:xfrm>
          <a:prstGeom prst="rect">
            <a:avLst/>
          </a:prstGeom>
          <a:solidFill>
            <a:srgbClr val="E8E6E0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64608" y="3127248"/>
            <a:ext cx="73152" cy="73152"/>
          </a:xfrm>
          <a:prstGeom prst="ellipse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92624" y="3090672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</a:rPr>
              <a:t>Collab risk nudges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864608" y="3383280"/>
            <a:ext cx="73152" cy="73152"/>
          </a:xfrm>
          <a:prstGeom prst="ellipse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92624" y="3346704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</a:rPr>
              <a:t>Dependency signals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864608" y="3639312"/>
            <a:ext cx="73152" cy="73152"/>
          </a:xfrm>
          <a:prstGeom prst="ellipse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92624" y="3602736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</a:rPr>
              <a:t>Nudge A/B test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864608" y="3895344"/>
            <a:ext cx="73152" cy="73152"/>
          </a:xfrm>
          <a:prstGeom prst="ellipse">
            <a:avLst/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92624" y="3858768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</a:rPr>
              <a:t>Exec dashboard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864608" y="4178808"/>
            <a:ext cx="1737360" cy="201168"/>
          </a:xfrm>
          <a:prstGeom prst="rect">
            <a:avLst/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779008" y="4178808"/>
            <a:ext cx="1737360" cy="201168"/>
          </a:xfrm>
          <a:prstGeom prst="rect">
            <a:avLst/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46320" y="4169664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54F0B"/>
                </a:solidFill>
              </a:rPr>
              <a:t>Mixpanel · Power BI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799832" y="2084832"/>
            <a:ext cx="219456" cy="219456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903720" y="2423160"/>
            <a:ext cx="2011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903720" y="2423160"/>
            <a:ext cx="2011680" cy="5486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013448" y="24871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F6E56"/>
                </a:solidFill>
              </a:rPr>
              <a:t>WK 13–16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7013448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loop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7013448" y="3017520"/>
            <a:ext cx="1783080" cy="9144"/>
          </a:xfrm>
          <a:prstGeom prst="rect">
            <a:avLst/>
          </a:prstGeom>
          <a:solidFill>
            <a:srgbClr val="E8E6E0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013448" y="3127248"/>
            <a:ext cx="73152" cy="73152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141464" y="3090672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</a:rPr>
              <a:t>Post-WFH feedback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7013448" y="3383280"/>
            <a:ext cx="73152" cy="73152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141464" y="3346704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</a:rPr>
              <a:t>Delivery tracking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7013448" y="3639312"/>
            <a:ext cx="73152" cy="73152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141464" y="3602736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</a:rPr>
              <a:t>Policy refinement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7013448" y="3895344"/>
            <a:ext cx="73152" cy="73152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141464" y="3858768"/>
            <a:ext cx="1664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</a:rPr>
              <a:t>PLM retro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7013448" y="4178808"/>
            <a:ext cx="1737360" cy="20116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927848" y="4178808"/>
            <a:ext cx="1737360" cy="20116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995160" y="4169664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6E56"/>
                </a:solidFill>
              </a:rPr>
              <a:t>Tableau · Notion retro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457200" y="4773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B4B2A9"/>
                </a:solidFill>
              </a:rPr>
              <a:t>In Miro: colour-coded swimlanes · stickies map user stories · arrows show dependencies · Jira plugin for live sprint tracking.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4B2A9"/>
                </a:solidFill>
              </a:rPr>
              <a:t>06 / 08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F8A"/>
                </a:solidFill>
              </a:rPr>
              <a:t>METRICS AND SUCCESS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Outcomes, not activity.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95B8"/>
                </a:solidFill>
              </a:rPr>
              <a:t>Vanity metrics measure system use. These metrics measure whether the system works.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321040" cy="1417320"/>
          </a:xfrm>
          <a:prstGeom prst="rect">
            <a:avLst/>
          </a:prstGeom>
          <a:solidFill>
            <a:srgbClr val="1A1F36"/>
          </a:solidFill>
          <a:ln w="12700">
            <a:solidFill>
              <a:srgbClr val="2E33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" cy="14173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149961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B7FA8"/>
                </a:solidFill>
              </a:rPr>
              <a:t>NORTH STAR METRIC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94944" y="17190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Delivery Stability Index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94944" y="20574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5B8"/>
                </a:solidFill>
              </a:rPr>
              <a:t>% of teams maintaining or improving sprint velocity, deadline adherence, and task completion — week-over-week relative to WFH frequency. A team at 3 WFH days/week with stable delivery = success signal. One at 1 day/week with slipping deadlines = failure signal.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4023360" cy="1188720"/>
          </a:xfrm>
          <a:prstGeom prst="rect">
            <a:avLst/>
          </a:prstGeom>
          <a:solidFill>
            <a:srgbClr val="1A1F36"/>
          </a:solidFill>
          <a:ln w="12700">
            <a:solidFill>
              <a:srgbClr val="2E33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017520"/>
            <a:ext cx="54864" cy="11887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30906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6B6F8A"/>
                </a:solidFill>
              </a:rPr>
              <a:t>SUPPORTING METRIC 1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94944" y="32918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Collaboration efficiency signal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4944" y="35661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95B8"/>
                </a:solidFill>
              </a:rPr>
              <a:t>Dependency delays + meeting effectiveness + task spillover. Captures coordination breakdowns that velocity misses. Tracked in Power BI weekly.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0" y="3017520"/>
            <a:ext cx="4023360" cy="1188720"/>
          </a:xfrm>
          <a:prstGeom prst="rect">
            <a:avLst/>
          </a:prstGeom>
          <a:solidFill>
            <a:srgbClr val="1A1F36"/>
          </a:solidFill>
          <a:ln w="12700">
            <a:solidFill>
              <a:srgbClr val="2E33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3017520"/>
            <a:ext cx="54864" cy="11887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01184" y="30906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6B6F8A"/>
                </a:solidFill>
              </a:rPr>
              <a:t>SUPPORTING METRIC 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901184" y="32918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Approval quality score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01184" y="35661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95B8"/>
                </a:solidFill>
              </a:rPr>
              <a:t>% of approvals with context panel open + post-approval delivery impact. Measures whether managers use the system well — not just that they use it.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438912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4E70"/>
                </a:solidFill>
              </a:rPr>
              <a:t>Explicitly excluded: request volume, time-to-approval, approval rate. These measure throughput. We measure value.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3A3E60"/>
                </a:solidFill>
              </a:rPr>
              <a:t>07 / 08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F5E5A"/>
                </a:solidFill>
              </a:rPr>
              <a:t>BUSINESS POSITIONING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audiences. Three value props.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5E5A"/>
                </a:solidFill>
              </a:rPr>
              <a:t>Same feature, framed around what each stakeholder actually cares about.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412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54864" cy="89611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270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117"/>
                </a:solidFill>
              </a:rPr>
              <a:t>Leadership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0" y="1545336"/>
            <a:ext cx="1737360" cy="201168"/>
          </a:xfrm>
          <a:prstGeom prst="rect">
            <a:avLst/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154533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34AB7"/>
                </a:solidFill>
              </a:rPr>
              <a:t>KPI: Delivery stability index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1837944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5E5A"/>
                </a:solidFill>
              </a:rPr>
              <a:t>"This makes team output predictable. You get week-by-week visibility into WFH's actual impact on delivery — and it de-risks the flexible work commitment you've already made to employees."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441448"/>
            <a:ext cx="8412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441448"/>
            <a:ext cx="54864" cy="89611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5511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117"/>
                </a:solidFill>
              </a:rPr>
              <a:t>Managers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828800" y="2569464"/>
            <a:ext cx="1737360" cy="20116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25694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F6E56"/>
                </a:solidFill>
              </a:rPr>
              <a:t>KPI: Fewer coverage surprises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4360" y="2862072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5E5A"/>
                </a:solidFill>
              </a:rPr>
              <a:t>"Decision support, not more admin. You'll see team WFH distribution, workload, and dependency risks in one panel before approving. No more gaps discovered the day of."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465576"/>
            <a:ext cx="8412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465576"/>
            <a:ext cx="54864" cy="89611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5753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117"/>
                </a:solidFill>
              </a:rPr>
              <a:t>Employees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828800" y="3593592"/>
            <a:ext cx="1737360" cy="201168"/>
          </a:xfrm>
          <a:prstGeom prst="rect">
            <a:avLst/>
          </a:prstGeom>
          <a:solidFill>
            <a:srgbClr val="FAECE7"/>
          </a:solidFill>
          <a:ln w="12700">
            <a:solidFill>
              <a:srgbClr val="FAEC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35935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85A30"/>
                </a:solidFill>
              </a:rPr>
              <a:t>KPI: Perceived fairness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4360" y="388620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F5E5A"/>
                </a:solidFill>
              </a:rPr>
              <a:t>"Flexibility built into the system — not dependent on your manager's mood. Limits are visible upfront. High-output WFH patterns are recognised. Fair by design."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526280"/>
            <a:ext cx="8412480" cy="36576"/>
          </a:xfrm>
          <a:prstGeom prst="rect">
            <a:avLst/>
          </a:prstGeom>
          <a:solidFill>
            <a:srgbClr val="E8E6E0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608576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34AB7"/>
                </a:solidFill>
              </a:rPr>
              <a:t>"Designed not as a WFH request feature — but as a system that ensures teams remain productive, collaborative, and predictable, while enabling flexibility."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B4B2A9"/>
                </a:solidFill>
              </a:rPr>
              <a:t>08 / 08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WFH Request System — EmployWise</dc:title>
  <dc:subject>PptxGenJS Presentation</dc:subject>
  <dc:creator>APM Product Case</dc:creator>
  <cp:lastModifiedBy>APM Product Case</cp:lastModifiedBy>
  <cp:revision>1</cp:revision>
  <dcterms:created xsi:type="dcterms:W3CDTF">2026-04-20T07:18:49Z</dcterms:created>
  <dcterms:modified xsi:type="dcterms:W3CDTF">2026-04-20T07:18:49Z</dcterms:modified>
</cp:coreProperties>
</file>